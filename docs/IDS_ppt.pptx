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ca78653-dcc1-5332-09ce-979da69c1f00}">
          <p14:sldIdLst>
            <p14:sldId id="256"/>
            <p14:sldId id="257"/>
            <p14:sldId id="258"/>
          </p14:sldIdLst>
        </p14:section>
        <p14:section name="Data &amp; Method" id="{948bf2f6-0411-f717-3087-0eb129949d61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s" id="{2d700c95-c019-c590-6d12-aa5b0c83d8ab}">
          <p14:sldIdLst>
            <p14:sldId id="265"/>
            <p14:sldId id="266"/>
            <p14:sldId id="267"/>
            <p14:sldId id="268"/>
          </p14:sldIdLst>
        </p14:section>
        <p14:section name="Wrap-up" id="{4f795534-c681-87fb-c75e-4618ea496444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predicting the final score and the risk of a batting collapse from the last 12 balls.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innings at 80/2 after 10 overs can finish 150 or 190. We want a model that sees momentum and wickets.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for the expected score, classification for collapse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JSON per match. We flatten it to one row per legal ball.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is a function in R/functions.R and a chunk in IDS_CS.Rmd.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last-12-ball features are what a plain run rate cannot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is computed from the NEXT 12 balls; features come from the LAST 12 balls only, so there is no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baselines first, then ridge, forests and boosting.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Splitting by match prevents the same innings leaking into train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best model from the table; compare it with run-rate x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Collapses are rare so we look at AUC, precision, recall and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explains the forecast; the heat-map shows when collapses are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shiny::runApp('R/app.R'). Type the match situation and read both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what the model cannot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model outputs with the numbers from your results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 Badri · 160124771305 · AI &amp; DS · Section I1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ricsheet.org/downloads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</a:rPr>
              <a:t>IDS CASE STUDY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Score Forecasting &amp; Batting-Collapse Detection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D2"/>
                </a:solidFill>
              </a:rPr>
              <a:t>Machine learning in R on 1,169 official ball-by-ball matches</a:t>
            </a:r>
            <a:endParaRPr lang="en-US" sz="2000" dirty="0"/>
          </a:p>
        </p:txBody>
      </p:sp>
      <p:sp>
        <p:nvSpPr>
          <p:cNvPr id="5" name="ball 1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ball 0"/>
          <p:cNvSpPr/>
          <p:nvPr/>
        </p:nvSpPr>
        <p:spPr>
          <a:xfrm>
            <a:off x="1298448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9" name="ball 4"/>
          <p:cNvSpPr/>
          <p:nvPr/>
        </p:nvSpPr>
        <p:spPr>
          <a:xfrm>
            <a:off x="1865376" y="3886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ball W"/>
          <p:cNvSpPr/>
          <p:nvPr/>
        </p:nvSpPr>
        <p:spPr>
          <a:xfrm>
            <a:off x="2432304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3230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13" name="ball 1"/>
          <p:cNvSpPr/>
          <p:nvPr/>
        </p:nvSpPr>
        <p:spPr>
          <a:xfrm>
            <a:off x="2999232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923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ball 0"/>
          <p:cNvSpPr/>
          <p:nvPr/>
        </p:nvSpPr>
        <p:spPr>
          <a:xfrm>
            <a:off x="3566160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17" name="ball W"/>
          <p:cNvSpPr/>
          <p:nvPr/>
        </p:nvSpPr>
        <p:spPr>
          <a:xfrm>
            <a:off x="4133088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3308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19" name="ball 2"/>
          <p:cNvSpPr/>
          <p:nvPr/>
        </p:nvSpPr>
        <p:spPr>
          <a:xfrm>
            <a:off x="4700016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001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ball 1"/>
          <p:cNvSpPr/>
          <p:nvPr/>
        </p:nvSpPr>
        <p:spPr>
          <a:xfrm>
            <a:off x="5266944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6694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ball W"/>
          <p:cNvSpPr/>
          <p:nvPr/>
        </p:nvSpPr>
        <p:spPr>
          <a:xfrm>
            <a:off x="5833872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3387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25" name="ball 0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27" name="ball 1"/>
          <p:cNvSpPr/>
          <p:nvPr/>
        </p:nvSpPr>
        <p:spPr>
          <a:xfrm>
            <a:off x="6967728" y="388620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6772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D2"/>
                </a:solidFill>
              </a:rPr>
              <a:t>12 legal balls · 3 wickets = a collapse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394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 Badri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Roll No: 160124771305   ·   Branch: AI &amp; DS   ·   Section: I1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run-rate is not enough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Run rate × 20 ignores how the runs came.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Two sides on 80/2 after 10 overs can finish far apart.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burst of wickets (a collapse) changes the whole innings.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Captains, analysts and broadcasters want an early warning.</a:t>
            </a:r>
            <a:endParaRPr lang="en-US" sz="2000" dirty="0"/>
          </a:p>
        </p:txBody>
      </p:sp>
      <p:sp>
        <p:nvSpPr>
          <p:cNvPr id="5" name="stat IPL matches"/>
          <p:cNvSpPr/>
          <p:nvPr/>
        </p:nvSpPr>
        <p:spPr>
          <a:xfrm>
            <a:off x="7315200" y="137160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1,169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IPL matches</a:t>
            </a:r>
            <a:endParaRPr lang="en-US" sz="2000" dirty="0"/>
          </a:p>
        </p:txBody>
      </p:sp>
      <p:sp>
        <p:nvSpPr>
          <p:cNvPr id="8" name="stat balls of context"/>
          <p:cNvSpPr/>
          <p:nvPr/>
        </p:nvSpPr>
        <p:spPr>
          <a:xfrm>
            <a:off x="7315200" y="292608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0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2926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balls of context</a:t>
            </a:r>
            <a:endParaRPr lang="en-US" sz="2000" dirty="0"/>
          </a:p>
        </p:txBody>
      </p:sp>
      <p:sp>
        <p:nvSpPr>
          <p:cNvPr id="11" name="stat forecast checkpoints"/>
          <p:cNvSpPr/>
          <p:nvPr/>
        </p:nvSpPr>
        <p:spPr>
          <a:xfrm>
            <a:off x="7315200" y="44805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4480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44805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forecast checkpoints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answered ball by ball</a:t>
            </a:r>
            <a:endParaRPr lang="en-US" sz="3400" dirty="0"/>
          </a:p>
        </p:txBody>
      </p:sp>
      <p:sp>
        <p:nvSpPr>
          <p:cNvPr id="4" name="1 · Forecast the score card"/>
          <p:cNvSpPr/>
          <p:nvPr/>
        </p:nvSpPr>
        <p:spPr>
          <a:xfrm>
            <a:off x="548640" y="1463040"/>
            <a:ext cx="539496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Forecast the score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Expected final innings total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 6, 10, 15 and 18 overs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Regression models vs. run-rate × 20</a:t>
            </a:r>
            <a:endParaRPr lang="en-US" sz="1500" dirty="0"/>
          </a:p>
        </p:txBody>
      </p:sp>
      <p:sp>
        <p:nvSpPr>
          <p:cNvPr id="7" name="2 · Detect a collapse card"/>
          <p:cNvSpPr/>
          <p:nvPr/>
        </p:nvSpPr>
        <p:spPr>
          <a:xfrm>
            <a:off x="6245352" y="1463040"/>
            <a:ext cx="539496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73952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Detect a collapse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21945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Will the side lose 3+ wickets in the next 12 balls?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Inputs: runs and wickets of the last 12 balls + match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Classification models with AUC, precision, recall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official ball-by-ball JSON from Cricsheet</a:t>
            </a:r>
            <a:endParaRPr lang="en-US" sz="3400" dirty="0"/>
          </a:p>
        </p:txBody>
      </p:sp>
      <p:sp>
        <p:nvSpPr>
          <p:cNvPr id="4" name="info"/>
          <p:cNvSpPr/>
          <p:nvPr/>
        </p:nvSpPr>
        <p:spPr>
          <a:xfrm>
            <a:off x="548640" y="1645920"/>
            <a:ext cx="2377440" cy="1920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teams · venue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season · overs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›</a:t>
            </a:r>
            <a:endParaRPr lang="en-US" sz="3600" dirty="0"/>
          </a:p>
        </p:txBody>
      </p:sp>
      <p:sp>
        <p:nvSpPr>
          <p:cNvPr id="8" name="innings"/>
          <p:cNvSpPr/>
          <p:nvPr/>
        </p:nvSpPr>
        <p:spPr>
          <a:xfrm>
            <a:off x="3383280" y="1645920"/>
            <a:ext cx="2377440" cy="1920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innings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batting team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1st / 2nd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›</a:t>
            </a:r>
            <a:endParaRPr lang="en-US" sz="3600" dirty="0"/>
          </a:p>
        </p:txBody>
      </p:sp>
      <p:sp>
        <p:nvSpPr>
          <p:cNvPr id="12" name="overs"/>
          <p:cNvSpPr/>
          <p:nvPr/>
        </p:nvSpPr>
        <p:spPr>
          <a:xfrm>
            <a:off x="6217920" y="1645920"/>
            <a:ext cx="2377440" cy="1920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over number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deliveries[]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›</a:t>
            </a:r>
            <a:endParaRPr lang="en-US" sz="3600" dirty="0"/>
          </a:p>
        </p:txBody>
      </p:sp>
      <p:sp>
        <p:nvSpPr>
          <p:cNvPr id="16" name="deliveries"/>
          <p:cNvSpPr/>
          <p:nvPr/>
        </p:nvSpPr>
        <p:spPr>
          <a:xfrm>
            <a:off x="9052560" y="1645920"/>
            <a:ext cx="2377440" cy="19202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0525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deliveries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runs · extras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wickets[]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0233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1,169 matches, licensed ball-by-ball records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Kept: innings 1–2 of full 20-over games; super overs and shortened games removed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Wides / no-balls are folded into the legal ball so the ball counter is exact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in R</a:t>
            </a:r>
            <a:endParaRPr lang="en-US" sz="3400" dirty="0"/>
          </a:p>
        </p:txBody>
      </p:sp>
      <p:sp>
        <p:nvSpPr>
          <p:cNvPr id="4" name="step 1"/>
          <p:cNvSpPr/>
          <p:nvPr/>
        </p:nvSpPr>
        <p:spPr>
          <a:xfrm>
            <a:off x="1051560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5156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JSON → one row per legal ball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291840" y="182880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9184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last-12-ball runs &amp; wickets</a:t>
            </a:r>
            <a:endParaRPr lang="en-US" sz="1500" dirty="0"/>
          </a:p>
        </p:txBody>
      </p:sp>
      <p:sp>
        <p:nvSpPr>
          <p:cNvPr id="12" name="step 3"/>
          <p:cNvSpPr/>
          <p:nvPr/>
        </p:nvSpPr>
        <p:spPr>
          <a:xfrm>
            <a:off x="5532120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53212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80/20 by match</a:t>
            </a:r>
            <a:endParaRPr lang="en-US" sz="1500" dirty="0"/>
          </a:p>
        </p:txBody>
      </p:sp>
      <p:sp>
        <p:nvSpPr>
          <p:cNvPr id="16" name="step 4"/>
          <p:cNvSpPr/>
          <p:nvPr/>
        </p:nvSpPr>
        <p:spPr>
          <a:xfrm>
            <a:off x="7772400" y="182880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4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regression + classification</a:t>
            </a:r>
            <a:endParaRPr lang="en-US" sz="1500" dirty="0"/>
          </a:p>
        </p:txBody>
      </p:sp>
      <p:sp>
        <p:nvSpPr>
          <p:cNvPr id="20" name="step 5"/>
          <p:cNvSpPr/>
          <p:nvPr/>
        </p:nvSpPr>
        <p:spPr>
          <a:xfrm>
            <a:off x="10012680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1268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5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950976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MAE · RMSE · AUC · F1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Deliverables: Rmd report · saved .rds models · Shiny simulator · metrics.json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engineered for every checkpoint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Captures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cum_score, cum_wickets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Score and wickets at the checkpoint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Current state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current_run_rate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Score ÷ overs bowled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Average pace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runs_last12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Runs in the last 12 legal balls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Momentum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wkts_last12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Wickets in the last 12 legal balls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Pressure / collapse signal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checkpoint_overs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6, 10, 15 or 18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Balls remaining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Both models see the same inputs: recent runs and recent wickets plus the match state.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a collapse?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LAST 12 BALLS  →  model input</a:t>
            </a:r>
            <a:endParaRPr lang="en-US" sz="1400" dirty="0"/>
          </a:p>
        </p:txBody>
      </p:sp>
      <p:sp>
        <p:nvSpPr>
          <p:cNvPr id="5" name="ball 1"/>
          <p:cNvSpPr/>
          <p:nvPr/>
        </p:nvSpPr>
        <p:spPr>
          <a:xfrm>
            <a:off x="548640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ball 0"/>
          <p:cNvSpPr/>
          <p:nvPr/>
        </p:nvSpPr>
        <p:spPr>
          <a:xfrm>
            <a:off x="1481328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8132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9" name="ball 4"/>
          <p:cNvSpPr/>
          <p:nvPr/>
        </p:nvSpPr>
        <p:spPr>
          <a:xfrm>
            <a:off x="2414016" y="17830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1401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ball 1"/>
          <p:cNvSpPr/>
          <p:nvPr/>
        </p:nvSpPr>
        <p:spPr>
          <a:xfrm>
            <a:off x="3346704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4670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ball 0"/>
          <p:cNvSpPr/>
          <p:nvPr/>
        </p:nvSpPr>
        <p:spPr>
          <a:xfrm>
            <a:off x="4279392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7939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15" name="ball W"/>
          <p:cNvSpPr/>
          <p:nvPr/>
        </p:nvSpPr>
        <p:spPr>
          <a:xfrm>
            <a:off x="521208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17" name="ball 1"/>
          <p:cNvSpPr/>
          <p:nvPr/>
        </p:nvSpPr>
        <p:spPr>
          <a:xfrm>
            <a:off x="6144768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4476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ball 2"/>
          <p:cNvSpPr/>
          <p:nvPr/>
        </p:nvSpPr>
        <p:spPr>
          <a:xfrm>
            <a:off x="7077456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7745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ball 0"/>
          <p:cNvSpPr/>
          <p:nvPr/>
        </p:nvSpPr>
        <p:spPr>
          <a:xfrm>
            <a:off x="8010144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1014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23" name="ball 1"/>
          <p:cNvSpPr/>
          <p:nvPr/>
        </p:nvSpPr>
        <p:spPr>
          <a:xfrm>
            <a:off x="8942832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4283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ball W"/>
          <p:cNvSpPr/>
          <p:nvPr/>
        </p:nvSpPr>
        <p:spPr>
          <a:xfrm>
            <a:off x="987552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55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27" name="ball 0"/>
          <p:cNvSpPr/>
          <p:nvPr/>
        </p:nvSpPr>
        <p:spPr>
          <a:xfrm>
            <a:off x="10808208" y="178308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80820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NEXT 12 BALLS  →  label</a:t>
            </a:r>
            <a:endParaRPr lang="en-US" sz="1400" dirty="0"/>
          </a:p>
        </p:txBody>
      </p:sp>
      <p:sp>
        <p:nvSpPr>
          <p:cNvPr id="30" name="ball 1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2" name="ball W"/>
          <p:cNvSpPr/>
          <p:nvPr/>
        </p:nvSpPr>
        <p:spPr>
          <a:xfrm>
            <a:off x="1481328" y="3291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481328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34" name="ball 0"/>
          <p:cNvSpPr/>
          <p:nvPr/>
        </p:nvSpPr>
        <p:spPr>
          <a:xfrm>
            <a:off x="2414016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414016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36" name="ball W"/>
          <p:cNvSpPr/>
          <p:nvPr/>
        </p:nvSpPr>
        <p:spPr>
          <a:xfrm>
            <a:off x="3346704" y="3291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346704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38" name="ball 1"/>
          <p:cNvSpPr/>
          <p:nvPr/>
        </p:nvSpPr>
        <p:spPr>
          <a:xfrm>
            <a:off x="4279392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279392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0" name="ball 0"/>
          <p:cNvSpPr/>
          <p:nvPr/>
        </p:nvSpPr>
        <p:spPr>
          <a:xfrm>
            <a:off x="5212080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1208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42" name="ball W"/>
          <p:cNvSpPr/>
          <p:nvPr/>
        </p:nvSpPr>
        <p:spPr>
          <a:xfrm>
            <a:off x="6144768" y="3291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44768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44" name="ball 1"/>
          <p:cNvSpPr/>
          <p:nvPr/>
        </p:nvSpPr>
        <p:spPr>
          <a:xfrm>
            <a:off x="7077456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077456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6" name="ball 0"/>
          <p:cNvSpPr/>
          <p:nvPr/>
        </p:nvSpPr>
        <p:spPr>
          <a:xfrm>
            <a:off x="8010144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010144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48" name="ball 0"/>
          <p:cNvSpPr/>
          <p:nvPr/>
        </p:nvSpPr>
        <p:spPr>
          <a:xfrm>
            <a:off x="8942832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942832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</a:t>
            </a:r>
            <a:endParaRPr lang="en-US" sz="1400" dirty="0"/>
          </a:p>
        </p:txBody>
      </p:sp>
      <p:sp>
        <p:nvSpPr>
          <p:cNvPr id="50" name="ball 2"/>
          <p:cNvSpPr/>
          <p:nvPr/>
        </p:nvSpPr>
        <p:spPr>
          <a:xfrm>
            <a:off x="9875520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87552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52" name="ball 1"/>
          <p:cNvSpPr/>
          <p:nvPr/>
        </p:nvSpPr>
        <p:spPr>
          <a:xfrm>
            <a:off x="10808208" y="329184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808208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4663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Collapse = 1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if the side loses 3 or more wickets in the next 12 legal balls, else 0. (Illustration above is an example, not real data.)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3400" dirty="0"/>
          </a:p>
        </p:txBody>
      </p:sp>
      <p:sp>
        <p:nvSpPr>
          <p:cNvPr id="4" name="Score forecasting card"/>
          <p:cNvSpPr/>
          <p:nvPr/>
        </p:nvSpPr>
        <p:spPr>
          <a:xfrm>
            <a:off x="548640" y="1463040"/>
            <a:ext cx="539496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forecasting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Mean baseline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Run-rate × 20 projection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Linear and Ridge regression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Forest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Gradient Boosting (CV-tuned trees)</a:t>
            </a:r>
            <a:endParaRPr lang="en-US" sz="1500" dirty="0"/>
          </a:p>
        </p:txBody>
      </p:sp>
      <p:sp>
        <p:nvSpPr>
          <p:cNvPr id="7" name="Collapse detection card"/>
          <p:cNvSpPr/>
          <p:nvPr/>
        </p:nvSpPr>
        <p:spPr>
          <a:xfrm>
            <a:off x="6245352" y="1463040"/>
            <a:ext cx="539496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73952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Collapse detection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Logistic regression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Forest classifier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Decision threshold tuned for F1 on training data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Collapses are rare, so accuracy alone misleads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 setup</a:t>
            </a:r>
            <a:endParaRPr lang="en-US" sz="3400" dirty="0"/>
          </a:p>
        </p:txBody>
      </p:sp>
      <p:sp>
        <p:nvSpPr>
          <p:cNvPr id="4" name="80 / 20"/>
          <p:cNvSpPr/>
          <p:nvPr/>
        </p:nvSpPr>
        <p:spPr>
          <a:xfrm>
            <a:off x="548640" y="1554480"/>
            <a:ext cx="3566160" cy="3840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split by match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innings appears in both train and test</a:t>
            </a:r>
            <a:endParaRPr lang="en-US" sz="1600" dirty="0"/>
          </a:p>
        </p:txBody>
      </p:sp>
      <p:sp>
        <p:nvSpPr>
          <p:cNvPr id="8" name="MAE · RMSE · R²"/>
          <p:cNvSpPr/>
          <p:nvPr/>
        </p:nvSpPr>
        <p:spPr>
          <a:xfrm>
            <a:off x="4297680" y="1554480"/>
            <a:ext cx="3566160" cy="3840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2628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· RMSE · R²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forecast quality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Reported per model and per checkpoint</a:t>
            </a:r>
            <a:endParaRPr lang="en-US" sz="1600" dirty="0"/>
          </a:p>
        </p:txBody>
      </p:sp>
      <p:sp>
        <p:nvSpPr>
          <p:cNvPr id="12" name="AUC · P · R · F1"/>
          <p:cNvSpPr/>
          <p:nvPr/>
        </p:nvSpPr>
        <p:spPr>
          <a:xfrm>
            <a:off x="8046720" y="1554480"/>
            <a:ext cx="3566160" cy="3840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7532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· P · R · F1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collapse quality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Threshold chosen on training data 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score forecasting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6692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Run-rate x 20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Linear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Ridge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RandomForest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GradientBoost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206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— = fill by knitting IDS_CS.Rmd on your 1,169 matches</a:t>
            </a:r>
            <a:endParaRPr lang="en-US" sz="1400" dirty="0"/>
          </a:p>
        </p:txBody>
      </p:sp>
      <p:sp>
        <p:nvSpPr>
          <p:cNvPr id="6" name="Pending figure"/>
          <p:cNvSpPr/>
          <p:nvPr/>
        </p:nvSpPr>
        <p:spPr>
          <a:xfrm>
            <a:off x="6492240" y="1417320"/>
            <a:ext cx="5120640" cy="4206240"/>
          </a:xfrm>
          <a:prstGeom prst="rect">
            <a:avLst/>
          </a:prstGeom>
          <a:solidFill>
            <a:srgbClr val="EEF3F0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7" name="Text 3"/>
          <p:cNvSpPr txBox="1"/>
          <p:nvPr/>
        </p:nvSpPr>
        <p:spPr>
          <a:xfrm>
            <a:off x="6492240" y="1417320"/>
            <a:ext cx="5120640" cy="4206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MAE by checkpoint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(appears after knitting IDS_CS.Rmd on your data)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collapse detection</a:t>
            </a:r>
            <a:endParaRPr lang="en-US" sz="3400" dirty="0"/>
          </a:p>
        </p:txBody>
      </p:sp>
      <p:sp>
        <p:nvSpPr>
          <p:cNvPr id="4" name="AUC"/>
          <p:cNvSpPr/>
          <p:nvPr/>
        </p:nvSpPr>
        <p:spPr>
          <a:xfrm>
            <a:off x="548640" y="1463040"/>
            <a:ext cx="26517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AUC</a:t>
            </a:r>
            <a:endParaRPr lang="en-US" sz="1800" dirty="0"/>
          </a:p>
        </p:txBody>
      </p:sp>
      <p:sp>
        <p:nvSpPr>
          <p:cNvPr id="7" name="Precision"/>
          <p:cNvSpPr/>
          <p:nvPr/>
        </p:nvSpPr>
        <p:spPr>
          <a:xfrm>
            <a:off x="3383280" y="1463040"/>
            <a:ext cx="26517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83280" y="16916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Precision</a:t>
            </a:r>
            <a:endParaRPr lang="en-US" sz="1800" dirty="0"/>
          </a:p>
        </p:txBody>
      </p:sp>
      <p:sp>
        <p:nvSpPr>
          <p:cNvPr id="10" name="Recall"/>
          <p:cNvSpPr/>
          <p:nvPr/>
        </p:nvSpPr>
        <p:spPr>
          <a:xfrm>
            <a:off x="548640" y="3566160"/>
            <a:ext cx="26517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794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Recall</a:t>
            </a:r>
            <a:endParaRPr lang="en-US" sz="1800" dirty="0"/>
          </a:p>
        </p:txBody>
      </p:sp>
      <p:sp>
        <p:nvSpPr>
          <p:cNvPr id="13" name="F1"/>
          <p:cNvSpPr/>
          <p:nvPr/>
        </p:nvSpPr>
        <p:spPr>
          <a:xfrm>
            <a:off x="3383280" y="3566160"/>
            <a:ext cx="26517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383280" y="3794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F1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15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— = fill by knitting IDS_CS.Rmd</a:t>
            </a:r>
            <a:endParaRPr lang="en-US" sz="1300" dirty="0"/>
          </a:p>
        </p:txBody>
      </p:sp>
      <p:sp>
        <p:nvSpPr>
          <p:cNvPr id="17" name="Pending figure"/>
          <p:cNvSpPr/>
          <p:nvPr/>
        </p:nvSpPr>
        <p:spPr>
          <a:xfrm>
            <a:off x="6492240" y="1463040"/>
            <a:ext cx="5120640" cy="4206240"/>
          </a:xfrm>
          <a:prstGeom prst="rect">
            <a:avLst/>
          </a:prstGeom>
          <a:solidFill>
            <a:srgbClr val="EEF3F0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649224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ROC curves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(appears after knitting IDS_CS.Rmd on your data)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</a:t>
            </a:r>
            <a:endParaRPr lang="en-US" sz="3400" dirty="0"/>
          </a:p>
        </p:txBody>
      </p:sp>
      <p:sp>
        <p:nvSpPr>
          <p:cNvPr id="4" name="Pending figure"/>
          <p:cNvSpPr/>
          <p:nvPr/>
        </p:nvSpPr>
        <p:spPr>
          <a:xfrm>
            <a:off x="548640" y="1417320"/>
            <a:ext cx="5394960" cy="4389120"/>
          </a:xfrm>
          <a:prstGeom prst="rect">
            <a:avLst/>
          </a:prstGeom>
          <a:solidFill>
            <a:srgbClr val="EEF3F0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5394960" cy="4389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Feature importance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(appears after knitting IDS_CS.Rmd on your data)</a:t>
            </a:r>
            <a:endParaRPr lang="en-US" sz="1400" dirty="0"/>
          </a:p>
        </p:txBody>
      </p:sp>
      <p:sp>
        <p:nvSpPr>
          <p:cNvPr id="6" name="Pending figure"/>
          <p:cNvSpPr/>
          <p:nvPr/>
        </p:nvSpPr>
        <p:spPr>
          <a:xfrm>
            <a:off x="6245352" y="1417320"/>
            <a:ext cx="5394960" cy="4389120"/>
          </a:xfrm>
          <a:prstGeom prst="rect">
            <a:avLst/>
          </a:prstGeom>
          <a:solidFill>
            <a:srgbClr val="EEF3F0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245352" y="1417320"/>
            <a:ext cx="5394960" cy="4389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Collapse rate by overs and wickets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(appears after knitting IDS_CS.Rmd on your data)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what-if simulator (Shiny)</a:t>
            </a:r>
            <a:endParaRPr lang="en-US" sz="3400" dirty="0"/>
          </a:p>
        </p:txBody>
      </p:sp>
      <p:sp>
        <p:nvSpPr>
          <p:cNvPr id="4" name="inputs panel"/>
          <p:cNvSpPr/>
          <p:nvPr/>
        </p:nvSpPr>
        <p:spPr>
          <a:xfrm>
            <a:off x="548640" y="1463040"/>
            <a:ext cx="539496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Overs completed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Current score and wickets lost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Runs in the last 12 balls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Wickets in the last 12 balls</a:t>
            </a:r>
            <a:endParaRPr lang="en-US" sz="1800" dirty="0"/>
          </a:p>
        </p:txBody>
      </p:sp>
      <p:sp>
        <p:nvSpPr>
          <p:cNvPr id="7" name="outputs panel"/>
          <p:cNvSpPr/>
          <p:nvPr/>
        </p:nvSpPr>
        <p:spPr>
          <a:xfrm>
            <a:off x="6245352" y="1463040"/>
            <a:ext cx="5394960" cy="4297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19672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22860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Expected final score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from the Random Forest forecaster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Collapse risk, next 12 balls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from the logistic collapse model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400" dirty="0"/>
          </a:p>
        </p:txBody>
      </p:sp>
      <p:sp>
        <p:nvSpPr>
          <p:cNvPr id="4" name="Limitations card"/>
          <p:cNvSpPr/>
          <p:nvPr/>
        </p:nvSpPr>
        <p:spPr>
          <a:xfrm>
            <a:off x="548640" y="1463040"/>
            <a:ext cx="539496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pitch, weather or batter-quality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1st-innings totals are forecast (chases end early)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match split, not season-wise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Collapse threshold (3 in 12) is a modelling choice</a:t>
            </a:r>
            <a:endParaRPr lang="en-US" sz="1500" dirty="0"/>
          </a:p>
        </p:txBody>
      </p:sp>
      <p:sp>
        <p:nvSpPr>
          <p:cNvPr id="7" name="Future work card"/>
          <p:cNvSpPr/>
          <p:nvPr/>
        </p:nvSpPr>
        <p:spPr>
          <a:xfrm>
            <a:off x="6245352" y="1463040"/>
            <a:ext cx="539496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73952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73952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batter / bowler form and venue effects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Calibrated gradient-boosted classifier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Season-wise validation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 the simulator as a hosted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point 1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645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Beyond run rate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Recent runs and recent wickets give the model context a run-rate × 20 projection cannot use.</a:t>
            </a:r>
            <a:endParaRPr lang="en-US" sz="2200" dirty="0"/>
          </a:p>
        </p:txBody>
      </p:sp>
      <p:sp>
        <p:nvSpPr>
          <p:cNvPr id="6" name="point 2"/>
          <p:cNvSpPr/>
          <p:nvPr/>
        </p:nvSpPr>
        <p:spPr>
          <a:xfrm>
            <a:off x="731520" y="31089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0175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Two outputs, one pipeline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Expected score and collapse risk come from the same ball-by-ball features.</a:t>
            </a:r>
            <a:endParaRPr lang="en-US" sz="2200" dirty="0"/>
          </a:p>
        </p:txBody>
      </p:sp>
      <p:sp>
        <p:nvSpPr>
          <p:cNvPr id="9" name="point 3"/>
          <p:cNvSpPr/>
          <p:nvPr/>
        </p:nvSpPr>
        <p:spPr>
          <a:xfrm>
            <a:off x="731520" y="44805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480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4389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Reproducible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Rmd, scripts, saved models and a Shiny app are all in the GitHub project.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</a:rPr>
              <a:t>Data: </a:t>
            </a:r>
            <a:pPr indent="0" marL="0">
              <a:buNone/>
            </a:pPr>
            <a:r>
              <a:rPr lang="en-US" sz="20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cricsheet.org/downloads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</a:rPr>
              <a:t>Code: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github.com/&lt;your-username&gt;/ipl-collapse-forecast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</a:rPr>
              <a:t>Report &amp; Rmd: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IDS_CASE_STUDY_REPORT.pdf · IDS_CS.Rmd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 Badri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160124771305 · AI &amp; DS · Section I1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937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L Collapse">
  <a:themeElements>
    <a:clrScheme name="IPL Collapse">
      <a:dk1>
        <a:srgbClr val="1A1A1A"/>
      </a:dk1>
      <a:lt1>
        <a:srgbClr val="FFFFFF"/>
      </a:lt1>
      <a:dk2>
        <a:srgbClr val="0B3D2E"/>
      </a:dk2>
      <a:lt2>
        <a:srgbClr val="EEF3F0"/>
      </a:lt2>
      <a:accent1>
        <a:srgbClr val="0B3D2E"/>
      </a:accent1>
      <a:accent2>
        <a:srgbClr val="E4572E"/>
      </a:accent2>
      <a:accent3>
        <a:srgbClr val="F2C14E"/>
      </a:accent3>
      <a:accent4>
        <a:srgbClr val="2E7D5B"/>
      </a:accent4>
      <a:accent5>
        <a:srgbClr val="6B7280"/>
      </a:accent5>
      <a:accent6>
        <a:srgbClr val="1C7293"/>
      </a:accent6>
      <a:hlink>
        <a:srgbClr val="1C7293"/>
      </a:hlink>
      <a:folHlink>
        <a:srgbClr val="6B7280"/>
      </a:folHlink>
    </a:clrScheme>
    <a:fontScheme name="IPL Collap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Score Forecasting &amp; Batting-Collapse Detection</dc:title>
  <dc:subject>PptxGenJS Presentation</dc:subject>
  <dc:creator>A Badri</dc:creator>
  <cp:lastModifiedBy>A Badri</cp:lastModifiedBy>
  <cp:revision>1</cp:revision>
  <dcterms:created xsi:type="dcterms:W3CDTF">2026-10-25T15:36:59Z</dcterms:created>
  <dcterms:modified xsi:type="dcterms:W3CDTF">2026-10-25T15:36:59Z</dcterms:modified>
</cp:coreProperties>
</file>